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457200" y="365760"/>
            <a:ext cx="457200" cy="164592"/>
          </a:xfrm>
          <a:prstGeom prst="triangle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457200" cy="7315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548640"/>
            <a:ext cx="45720" cy="16459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548640"/>
            <a:ext cx="45720" cy="16459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548640"/>
            <a:ext cx="45720" cy="16459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2F2F2"/>
                </a:solidFill>
                <a:latin typeface="Microsoft JhengHei"/>
              </a:rPr>
              <a:t>Tokenomics Canvas ｜ 代幣經濟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▍ 代幣名稱與定位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dXXXX（如 dTSMC）= 代幣化台股,1 代幣 ↔ 1 股經濟權利;TWD = 平台計價穩定幣。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▍ 背後資產與來源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台灣上市股票;價格來源 TWSE（預言機餵價）;商轉以實股 1:1 託管擔保。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▍ 鑄造 / 銷毀 Mint-Burn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存 TWD 依預言機即時價 mint;redeem 反向燒毀;穩定幣 mintTWD / requestRedemption。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▍ 發行量與增發規則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無固定上限,供給隨「TWD 抵押鑄造」彈性增減,恆等於儲備擔保量。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▍ 權限角色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admin / issuer · ATTESTOR（儲備簽證）· COMPLIANCE（凍結 / 暫停）· 工廠 owner。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▍ 費用結構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Demo 免交易費;商轉開鑄造 / 贖回費、AUM 管理費、借貸利差、IPO 承銷費。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B544"/>
                </a:solidFill>
                <a:latin typeface="Microsoft JhengHei"/>
              </a:rPr>
              <a:t>▍ 二級市場與流動性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平台 mint / redeem + Uniswap v3 池（已上鏈）+ 借貸釋放抵押流動性。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457200" y="365760"/>
            <a:ext cx="457200" cy="164592"/>
          </a:xfrm>
          <a:prstGeom prst="triangle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457200" cy="7315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548640"/>
            <a:ext cx="45720" cy="16459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548640"/>
            <a:ext cx="45720" cy="16459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548640"/>
            <a:ext cx="45720" cy="16459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2F2F2"/>
                </a:solidFill>
                <a:latin typeface="Microsoft JhengHei"/>
              </a:rPr>
              <a:t>Use Case Canvas ｜ 使用情境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552D"/>
                </a:solidFill>
                <a:latin typeface="Microsoft JhengHei"/>
              </a:rPr>
              <a:t>▍ 目標使用者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機構（發行 / 做市）、個人（配置 / 賺息）、零售（零股 / 跨境）。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552D"/>
                </a:solidFill>
                <a:latin typeface="Microsoft JhengHei"/>
              </a:rPr>
              <a:t>▍ 使用場景與痛點解方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夜間配置台股、零股碎片化、抵押借 TWD、SpaceX / 新股認購、即時驗證估值與擔保。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552D"/>
                </a:solidFill>
                <a:latin typeface="Microsoft JhengHei"/>
              </a:rPr>
              <a:t>▍ 鏈上 / 鏈下流程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鏈下 TWSE 餵價 + AI 估值 → 鏈上 mint / redeem / 借貸 / 認購 / Uniswap;前端 wagmi 直接讀寫。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552D"/>
                </a:solidFill>
                <a:latin typeface="Microsoft JhengHei"/>
              </a:rPr>
              <a:t>▍ 法規與合規挑戰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證券型代幣定性、KYC / AML、穩定幣儲備與贖回、跨境稅務。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552D"/>
                </a:solidFill>
                <a:latin typeface="Microsoft JhengHei"/>
              </a:rPr>
              <a:t>▍ 競品分析與差異化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vs 券商（24/7+碎片化）、vs CEX（鏈上可驗擔保）、vs Ondo / xStocks（專注台股 + TWD 本位）。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552D"/>
                </a:solidFill>
                <a:latin typeface="Microsoft JhengHei"/>
              </a:rPr>
              <a:t>▍ 風險管理機制  </a:t>
            </a:r>
            <a:r>
              <a:rPr sz="1500">
                <a:solidFill>
                  <a:srgbClr val="F2F2F2"/>
                </a:solidFill>
                <a:latin typeface="Microsoft JhengHei"/>
              </a:rPr>
              <a:t>凍結 setFrozen、暫停 pause、黑名單、預言機過期價檢查、借貸健康因子 / 清算。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457200" y="365760"/>
            <a:ext cx="457200" cy="164592"/>
          </a:xfrm>
          <a:prstGeom prst="triangle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457200" cy="7315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548640"/>
            <a:ext cx="45720" cy="16459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548640"/>
            <a:ext cx="45720" cy="16459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548640"/>
            <a:ext cx="45720" cy="164592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2F2F2"/>
                </a:solidFill>
                <a:latin typeface="Microsoft JhengHei"/>
              </a:rPr>
              <a:t>Smart Contract Role Map ｜ 合約角色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B544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anchor="ctr">
                    <a:solidFill>
                      <a:srgbClr val="241C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B544"/>
                          </a:solidFill>
                          <a:latin typeface="Microsoft JhengHei"/>
                        </a:rPr>
                        <a:t>權限</a:t>
                      </a:r>
                    </a:p>
                  </a:txBody>
                  <a:tcPr anchor="ctr">
                    <a:solidFill>
                      <a:srgbClr val="241C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B544"/>
                          </a:solidFill>
                          <a:latin typeface="Microsoft JhengHei"/>
                        </a:rPr>
                        <a:t>DEFAULT_ADMIN / issuer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2F2"/>
                          </a:solidFill>
                          <a:latin typeface="Microsoft JhengHei"/>
                        </a:rPr>
                        <a:t>發行、設定揭露、issue 鑄造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B544"/>
                          </a:solidFill>
                          <a:latin typeface="Microsoft JhengHei"/>
                        </a:rPr>
                        <a:t>ATTESTOR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2F2"/>
                          </a:solidFill>
                          <a:latin typeface="Microsoft JhengHei"/>
                        </a:rPr>
                        <a:t>attestReserves 簽署儲備證明（時間戳 + 文件雜湊）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B544"/>
                          </a:solidFill>
                          <a:latin typeface="Microsoft JhengHei"/>
                        </a:rPr>
                        <a:t>COMPLIANCE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2F2"/>
                          </a:solidFill>
                          <a:latin typeface="Microsoft JhengHei"/>
                        </a:rPr>
                        <a:t>setFrozen 凍結地址、pause / unpause 全面暫停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B544"/>
                          </a:solidFill>
                          <a:latin typeface="Microsoft JhengHei"/>
                        </a:rPr>
                        <a:t>owner（工廠 / 借貸 / IPO）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2F2"/>
                          </a:solidFill>
                          <a:latin typeface="Microsoft JhengHei"/>
                        </a:rPr>
                        <a:t>上架代幣、設風險參數、建立 IPO 認購案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B544"/>
                          </a:solidFill>
                          <a:latin typeface="Microsoft JhengHei"/>
                        </a:rPr>
                        <a:t>feeder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2F2"/>
                          </a:solidFill>
                          <a:latin typeface="Microsoft JhengHei"/>
                        </a:rPr>
                        <a:t>updatePrices 餵價</a:t>
                      </a:r>
                    </a:p>
                  </a:txBody>
                  <a:tcPr anchor="ctr">
                    <a:solidFill>
                      <a:srgbClr val="17171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160520"/>
            <a:ext cx="10972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5B544"/>
                </a:solidFill>
                <a:latin typeface="Microsoft JhengHei"/>
              </a:rPr>
              <a:t>▍ 系統合約  </a:t>
            </a:r>
            <a:r>
              <a:rPr sz="1250">
                <a:solidFill>
                  <a:srgbClr val="F2F2F2"/>
                </a:solidFill>
                <a:latin typeface="Microsoft JhengHei"/>
              </a:rPr>
              <a:t>RegulatedTWD · PriceOracle · StockFactory · StockToken×12 · LendingPool · StockIPO · Uniswap v3 池（皆驗證）。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B544"/>
                </a:solidFill>
                <a:latin typeface="Microsoft JhengHei"/>
              </a:rPr>
              <a:t>▍ 可升級性  </a:t>
            </a:r>
            <a:r>
              <a:rPr sz="1250">
                <a:solidFill>
                  <a:srgbClr val="F2F2F2"/>
                </a:solidFill>
                <a:latin typeface="Microsoft JhengHei"/>
              </a:rPr>
              <a:t>現為不可升級（易審計、降信任風險）;路線圖評估 UUPS Proxy + 多簽 / 時間鎖。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B544"/>
                </a:solidFill>
                <a:latin typeface="Microsoft JhengHei"/>
              </a:rPr>
              <a:t>▍ 資產轉移邏輯  </a:t>
            </a:r>
            <a:r>
              <a:rPr sz="1250">
                <a:solidFill>
                  <a:srgbClr val="F2F2F2"/>
                </a:solidFill>
                <a:latin typeface="Microsoft JhengHei"/>
              </a:rPr>
              <a:t>_update 覆寫攔截黑名單 / 凍結 from-to;whenNotPaused 守鑄造 / 贖回。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B544"/>
                </a:solidFill>
                <a:latin typeface="Microsoft JhengHei"/>
              </a:rPr>
              <a:t>▍ 簽名轉移 permit  </a:t>
            </a:r>
            <a:r>
              <a:rPr sz="1250">
                <a:solidFill>
                  <a:srgbClr val="F2F2F2"/>
                </a:solidFill>
                <a:latin typeface="Microsoft JhengHei"/>
              </a:rPr>
              <a:t>路線圖支援 ERC-2612（免 gas 授權,優化 UX）。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B544"/>
                </a:solidFill>
                <a:latin typeface="Microsoft JhengHei"/>
              </a:rPr>
              <a:t>▍ 事件與透明性  </a:t>
            </a:r>
            <a:r>
              <a:rPr sz="1250">
                <a:solidFill>
                  <a:srgbClr val="F2F2F2"/>
                </a:solidFill>
                <a:latin typeface="Microsoft JhengHei"/>
              </a:rPr>
              <a:t>Minted / Redeemed / PriceUpdated / ReserveAttested / AddressFrozen / Borrow / Liquidate 全上鏈可稽核。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