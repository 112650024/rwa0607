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914400" cy="914400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REAL WORLD ASSET · ON-CHAIN · AI 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7EEF7"/>
                </a:solidFill>
                <a:latin typeface="Microsoft JhengHei"/>
              </a:rPr>
              <a:t>FormosaX — 把台股變成 24/7 可碎片化的鏈上資產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09DAE"/>
                </a:solidFill>
                <a:latin typeface="Microsoft JhengHei"/>
              </a:rPr>
              <a:t>受監管 TWD 穩定幣 × 預言機即時估值 × AI 輔助公允估值/風險 × 鏈上 1:1 實股擔保 × 可組合 DeFi(借貸/IPO)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7EEF7"/>
                </a:solidFill>
                <a:latin typeface="Consolas"/>
              </a:rPr>
              <a:t>題目七 · RWA 資產代幣化與估值系統   |   組員 114AB8049 · 114AB8031 · 114AB8051 · 114AB8016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9E6B0"/>
                </a:solidFill>
                <a:latin typeface="Consolas"/>
              </a:rPr>
              <a:t>Live Demo:https://rwa0607.vercel.app   |   Ethereum Sepolia(Etherscan 已驗證)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商業情境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7EEF7"/>
                </a:solidFill>
                <a:latin typeface="Microsoft JhengHei"/>
              </a:rPr>
              <a:t>▍ 金融機構希望把不動產、債權、股票等資產上鏈,提高流動性與投資可及性 —— 但卡在兩道牆: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F5B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① 估值不透明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資產缺乏即時、可驗證的公允價格,投資人難判斷標的價值與背後擔保。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9600" y="320040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② 流動性受限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交易受時段、單位(整股)、跨境與 T+2 結算限制,資金進出摩擦高。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6239" y="320040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FormosaX 切入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以台股切入(資料公開、估值明確、最易驗證),示範可複製的代幣化×預言機×AI×DeFi 堆疊。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①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台股投資與流動性的結構性痛點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僅限盤中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09:00–13:30 才能交易,夜間/假日無法即時反應國際盤。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單位門檻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一張 1,000 股門檻高;零股流動性低、撮合慢。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跨境困難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外資開戶/換匯/稅務繁瑣,進場成本高。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估值與擔保不透明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散戶難即時驗證公允價值與背後擔保。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無法進入 DeFi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持股不能直接質押借貸或組合應用。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一句話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台股是高品質資產,卻被「時段 × 單位 × 國界 × 結算」鎖住流動性。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②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FormosaX 解決方案(全部已上鏈)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代幣化台股 (ERC-20)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每檔台股 1:1 對應代幣(dTSMC…),工廠量產、可碎片化至 0.01 股。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預言機即時估值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Chainlink AggregatorV3 風格,餵入 TWSE 價,依即時價鑄造/贖回。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AI 輔助估值與風險（題目七核心）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回歸模型預測公允價 + 風險分數,動態調整借貸 LTV/清算線。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受監管 TWD 穩定幣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對標金管會草案:100% 儲備證明、揭露、贖回、凍結/暫停、角色分權。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9E6B0"/>
                </a:solidFill>
                <a:latin typeface="Microsoft JhengHei"/>
              </a:rPr>
              <a:t>▍ DeFi 應用  </a:t>
            </a:r>
            <a:r>
              <a:rPr sz="1600">
                <a:solidFill>
                  <a:srgbClr val="E7EEF7"/>
                </a:solidFill>
                <a:latin typeface="Microsoft JhengHei"/>
              </a:rPr>
              <a:t>質押台股代幣借 TWD、代幣化新股認購(超額 pro-rata 配額)。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ARCHITECTURE · 技術建議對照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系統架構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10515600" cy="2468880"/>
          </a:xfrm>
          <a:prstGeom prst="rect">
            <a:avLst/>
          </a:prstGeom>
          <a:solidFill>
            <a:srgbClr val="0E141F"/>
          </a:solidFill>
          <a:ln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E9DC"/>
                </a:solidFill>
                <a:latin typeface="Consolas"/>
              </a:rPr>
              <a:t>使用者(MetaMask / wagmi + RainbowKit) → React+Vite+shadcn → rwa0607.vercel.app</a:t>
            </a:r>
            <a:br/>
            <a:r>
              <a:rPr sz="1300" b="0">
                <a:solidFill>
                  <a:srgbClr val="BFE9DC"/>
                </a:solidFill>
                <a:latin typeface="Consolas"/>
              </a:rPr>
              <a:t>──────────── 鏈上(Ethereum Sepolia,可遷 L2)────────────</a:t>
            </a:r>
            <a:br/>
            <a:r>
              <a:rPr sz="1300" b="0">
                <a:solidFill>
                  <a:srgbClr val="BFE9DC"/>
                </a:solidFill>
                <a:latin typeface="Consolas"/>
              </a:rPr>
              <a:t>RegulatedTWD(穩定幣+儲備證明+角色/凍結/暫停)</a:t>
            </a:r>
            <a:br/>
            <a:r>
              <a:rPr sz="1300" b="0">
                <a:solidFill>
                  <a:srgbClr val="BFE9DC"/>
                </a:solidFill>
                <a:latin typeface="Consolas"/>
              </a:rPr>
              <a:t>StockFactory ─量產─► StockToken ×12(代幣化台股)</a:t>
            </a:r>
            <a:br/>
            <a:r>
              <a:rPr sz="1300" b="0">
                <a:solidFill>
                  <a:srgbClr val="BFE9DC"/>
                </a:solidFill>
                <a:latin typeface="Consolas"/>
              </a:rPr>
              <a:t>PriceOracle(Chainlink 風格) · LendingPool(借貸/清算) · StockIPO(認購)</a:t>
            </a:r>
            <a:br/>
            <a:r>
              <a:rPr sz="1300" b="0">
                <a:solidFill>
                  <a:srgbClr val="BFE9DC"/>
                </a:solidFill>
                <a:latin typeface="Consolas"/>
              </a:rPr>
              <a:t>▲ 鏈下 Feeder(TWSE OpenAPI 餵價)   ▲ AI 估值與風險引擎(Python 回歸)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9E6B0"/>
                </a:solidFill>
                <a:latin typeface="Microsoft JhengHei"/>
              </a:rPr>
              <a:t>▍ 區塊鏈 / 標準  </a:t>
            </a:r>
            <a:r>
              <a:rPr sz="1400">
                <a:solidFill>
                  <a:srgbClr val="E7EEF7"/>
                </a:solidFill>
                <a:latin typeface="Microsoft JhengHei"/>
              </a:rPr>
              <a:t>Sepolia 可平移 Arbitrum/Base;ERC-20 碎片化+DeFi,ERC-721 預留不動產類。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9E6B0"/>
                </a:solidFill>
                <a:latin typeface="Microsoft JhengHei"/>
              </a:rPr>
              <a:t>▍ Oracle  </a:t>
            </a:r>
            <a:r>
              <a:rPr sz="1400">
                <a:solidFill>
                  <a:srgbClr val="E7EEF7"/>
                </a:solidFill>
                <a:latin typeface="Microsoft JhengHei"/>
              </a:rPr>
              <a:t>自建 Chainlink 風格;路線圖以 Chainlink Functions 去中心化餵價並把 AI 輸出上鏈。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AI VALUATION &amp; RISK · 題目七核心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AI 輔助估值與風險模型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① 公允估值(回歸)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歷史價量+技術指標+大盤連動+財報因子 → 線性回歸/隨機森林預測 T+1 公允價區間,標示高/低估。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246888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F5B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② 風險評分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波動度、流動性、抵押集中度 → 0–100 風險分數,餵給 LendingPool 動態調整 LTV/清算線。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239" y="246888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③ 動態估值 Dashboard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市價 vs AI 公允價偏離、風險熱力圖、抵押健康度、儲備覆蓋率,讀自鏈上 view。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7EEF7"/>
                </a:solidFill>
                <a:latin typeface="Microsoft JhengHei"/>
              </a:rPr>
              <a:t>▍ 落地路徑:鏈下 Python 訓練/推論 → 簽章 → Chainlink Functions 把公允價/風險分數寫上鏈供合約引用。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③ TARGET CUSTOMERS /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目標客戶與市場規模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加密散戶 / DeFi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用穩定幣 24/7 配置台股、賺鏈上收益。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海外華人 / 外資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低門檻參與台股,免開券商戶、無國界。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239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券商 / 資管機構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代幣化發行、做市與新商品通路。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9E6B0"/>
                </a:solidFill>
                <a:latin typeface="Microsoft JhengHei"/>
              </a:rPr>
              <a:t>▍ TAM  </a:t>
            </a:r>
            <a:r>
              <a:rPr sz="1400">
                <a:solidFill>
                  <a:srgbClr val="E7EEF7"/>
                </a:solidFill>
                <a:latin typeface="Microsoft JhengHei"/>
              </a:rPr>
              <a:t>台股總市值約 NT$70 兆+;全球 RWA 代幣化 BCG 預估 2030 達 ~US$16 兆。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9E6B0"/>
                </a:solidFill>
                <a:latin typeface="Microsoft JhengHei"/>
              </a:rPr>
              <a:t>▍ SAM / SOM  </a:t>
            </a:r>
            <a:r>
              <a:rPr sz="1400">
                <a:solidFill>
                  <a:srgbClr val="E7EEF7"/>
                </a:solidFill>
                <a:latin typeface="Microsoft JhengHei"/>
              </a:rPr>
              <a:t>可代幣化精選台股+跨境/DeFi 客群;初期 30–50 檔藍籌「報價全市場、可交易精選」。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9E6B0"/>
                </a:solidFill>
                <a:latin typeface="Microsoft JhengHei"/>
              </a:rPr>
              <a:t>▍ 趨勢  </a:t>
            </a:r>
            <a:r>
              <a:rPr sz="1400">
                <a:solidFill>
                  <a:srgbClr val="E7EEF7"/>
                </a:solidFill>
                <a:latin typeface="Microsoft JhengHei"/>
              </a:rPr>
              <a:t>RWA 鏈上規模 2023→2025 高速成長,台股資料公開、估值明確,最適合亞洲 RWA 示範。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④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商業模式 / 獲利 / 預期效益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774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9E6B0"/>
                          </a:solidFill>
                          <a:latin typeface="Microsoft JhengHei"/>
                        </a:rPr>
                        <a:t>收入來源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9E6B0"/>
                          </a:solidFill>
                          <a:latin typeface="Microsoft JhengHei"/>
                        </a:rPr>
                        <a:t>說明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7EEF7"/>
                          </a:solidFill>
                          <a:latin typeface="Microsoft JhengHei"/>
                        </a:rPr>
                        <a:t>交易手續費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9E6B0"/>
                          </a:solidFill>
                          <a:latin typeface="Microsoft JhengHei"/>
                        </a:rPr>
                        <a:t>鑄造/贖回微費(Demo 暫免,商轉可開)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7EEF7"/>
                          </a:solidFill>
                          <a:latin typeface="Microsoft JhengHei"/>
                        </a:rPr>
                        <a:t>AUM 管理費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9E6B0"/>
                          </a:solidFill>
                          <a:latin typeface="Microsoft JhengHei"/>
                        </a:rPr>
                        <a:t>對代幣化資產收年化管理費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7EEF7"/>
                          </a:solidFill>
                          <a:latin typeface="Microsoft JhengHei"/>
                        </a:rPr>
                        <a:t>借貸利差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9E6B0"/>
                          </a:solidFill>
                          <a:latin typeface="Microsoft JhengHei"/>
                        </a:rPr>
                        <a:t>LendingPool 借/存利差 + 清算手續費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7EEF7"/>
                          </a:solidFill>
                          <a:latin typeface="Microsoft JhengHei"/>
                        </a:rPr>
                        <a:t>IPO 承銷費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9E6B0"/>
                          </a:solidFill>
                          <a:latin typeface="Microsoft JhengHei"/>
                        </a:rPr>
                        <a:t>StockIPO 代幣化新股認購承銷費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7EEF7"/>
                          </a:solidFill>
                          <a:latin typeface="Microsoft JhengHei"/>
                        </a:rPr>
                        <a:t>穩定幣浮存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9E6B0"/>
                          </a:solidFill>
                          <a:latin typeface="Microsoft JhengHei"/>
                        </a:rPr>
                        <a:t>TWD 儲備之利息收益(對標真實穩定幣商模)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394960"/>
            <a:ext cx="105156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7EEF7"/>
                </a:solidFill>
                <a:latin typeface="Microsoft JhengHei"/>
              </a:rPr>
              <a:t>▍ 效益:投資人(零股化/24-7/可進 DeFi)、發行方(新通路+流動性+可程式化合規)、平台(多元收入+網路效應)。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⑤ 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為什麼比傳統金融好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構面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傳統券商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中心化交易所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FormosaX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交易時間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盤中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24/7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24/7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單位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整股/零股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受限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可碎片化 0.01 股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結算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T+2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內部帳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鏈上即時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估值透明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中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Oracle + AI,鏈上可驗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擔保證明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不可即時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託管黑箱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鏈上 1:1 Proof of Reserve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可組合性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有限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質押/借貸/認購/DeFi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合規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不一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穩定幣 + 角色/凍結/暫停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LEAN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精實畫布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① 客戶區隔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加密散戶、海外華人/外資、券商/資管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② 價值主張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24/7 碎片化台股+透明估值+DeFi+合規穩定幣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③ 通路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Web DApp(已上線)、錢包、券商 API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④ 客戶關係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自助 DApp、儲備/估值儀表、社群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⑤ 收入流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交易費、AUM、借貸利差、IPO、浮存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⑥ 關鍵資源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智能合約、預言機、AI 模型、實股託管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⑦ 關鍵活動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餵價/估值、合約維運、做市、合規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⑧ 關鍵夥伴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券商/保管行、Chainlink、做市商、審計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⑨ 成本結構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7EEF7"/>
                          </a:solidFill>
                          <a:latin typeface="Microsoft JhengHei"/>
                        </a:rPr>
                        <a:t>gas/L2、雲端 AI、審計、法遵、開發維運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E14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TOKENOMICS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代幣經濟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名稱/定位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dXXXX(dTSMC)=代幣化台股,1 代幣↔1 股經濟權利;TWD=平台計價穩定幣。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背後資產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台灣上市股票,價格來源 TWSE;商轉以實股 1:1 託管擔保。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Mint / Burn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存 TWD 依即時價 mint;redeem 反向燒毀;穩定幣 mintTWD/requestRedemption。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發行量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無固定上限,供給隨 TWD 抵押鑄造彈性增減,恆等於儲備擔保量。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角色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admin/issuer、ATTESTOR(儲備簽證)、COMPLIANCE(凍結/暫停)、工廠 owner。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費用 / 二級市場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Demo 免費;商轉開交易費/AUM/利差;未來上 DEX 做市 + 借貸釋放流動性。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USE CASE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使用情境畫布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目標使用者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機構(發行/做市)、個人(配置/賺息)、零售(零股/跨境)。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場景 / 痛點解方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夜間配置、零股碎片化、抵押借 TWD、IPO 認購、即時驗證估值。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239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鏈上 / 鏈下流程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鏈下 TWSE 餵價+AI 估值 → 鏈上鑄造/贖回/借貸/認購。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062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F5B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法規 / 合規挑戰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證券型代幣定性、KYC/AML、穩定幣儲備與贖回、跨境稅務。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9600" y="42062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F5B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競品 / 差異化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vs 券商(24/7+碎片化)、vs CEX(可驗擔保)、vs RWA(Oracle+AI+DeFi)。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6239" y="42062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F5B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風險管理機制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凍結地址、暫停、黑名單、預言機過期價檢查、健康因子/清算。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SMART CONTRACT 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合約角色與權限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權限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DEFAULT_ADMIN / issuer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發行、設定揭露、issue 鑄造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ATTESTOR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attestReserves 簽署儲備證明(時間戳 + 文件雜湊)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COMPLIANCE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setFrozen 凍結地址、pause / unpause 全面暫停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owner(工廠/借貸/IPO)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上架代幣、設風險參數、建立 IPO 認購案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feeder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updatePrices 餵價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074920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7EEF7"/>
                </a:solidFill>
                <a:latin typeface="Microsoft JhengHei"/>
              </a:rPr>
              <a:t>▍ 合約:RegulatedTWD·PriceOracle·StockFactory·StockToken×12·LendingPool·StockIPO(皆已驗證)。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7EEF7"/>
                </a:solidFill>
                <a:latin typeface="Microsoft JhengHei"/>
              </a:rPr>
              <a:t>▍ 轉移:_update 攔截黑名單/凍結+whenNotPaused;現不可升級(易審計),路線圖 UUPS+多簽;permit 路線圖支援;事件全上鏈。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LIVE DEMO · 已真實上鏈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實作亮點　rwa0607.vercel.app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模擬資產上鏈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12 檔台股代幣化,可碎片化買賣。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動態估值 Dashboard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即時市價、儲備覆蓋率、借貸健康因子,讀自鏈上 view。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▍ 完整 DeFi  </a:t>
            </a:r>
            <a:r>
              <a:rPr sz="1500">
                <a:solidFill>
                  <a:srgbClr val="E7EEF7"/>
                </a:solidFill>
                <a:latin typeface="Microsoft JhengHei"/>
              </a:rPr>
              <a:t>領 TWD→買賣→質押借 TWD→認購 IPO→穩定幣贖回,每筆附 Etherscan 連結。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10515600" cy="2103120"/>
          </a:xfrm>
          <a:prstGeom prst="rect">
            <a:avLst/>
          </a:prstGeom>
          <a:solidFill>
            <a:srgbClr val="0E141F"/>
          </a:solidFill>
          <a:ln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合約地址(Sepolia · Etherscan 已驗證綠勾)</a:t>
            </a:r>
          </a:p>
          <a:p>
            <a:r>
              <a:rPr sz="1200">
                <a:solidFill>
                  <a:srgbClr val="19E6B0"/>
                </a:solidFill>
                <a:latin typeface="Consolas"/>
              </a:rPr>
              <a:t>RegulatedTWD   0x0ec97A83E96C7e61b4eDD6FB5Bf33ddEaF63df67</a:t>
            </a:r>
          </a:p>
          <a:p>
            <a:r>
              <a:rPr sz="1200">
                <a:solidFill>
                  <a:srgbClr val="19E6B0"/>
                </a:solidFill>
                <a:latin typeface="Consolas"/>
              </a:rPr>
              <a:t>PriceOracle    0xF1198ab9A92E21E60bB90003eDEC0887aecf2871</a:t>
            </a:r>
          </a:p>
          <a:p>
            <a:r>
              <a:rPr sz="1200">
                <a:solidFill>
                  <a:srgbClr val="19E6B0"/>
                </a:solidFill>
                <a:latin typeface="Consolas"/>
              </a:rPr>
              <a:t>LendingPool    0xBebab317ec999ced702dE87C654868a9ede9ab82</a:t>
            </a:r>
          </a:p>
          <a:p>
            <a:r>
              <a:rPr sz="1200">
                <a:solidFill>
                  <a:srgbClr val="19E6B0"/>
                </a:solidFill>
                <a:latin typeface="Consolas"/>
              </a:rPr>
              <a:t>StockIPO       0x925BE0f709e4c9b38578142E9B94AFbb71aBB990</a:t>
            </a:r>
          </a:p>
          <a:p>
            <a:r>
              <a:rPr sz="1200">
                <a:solidFill>
                  <a:srgbClr val="F5B544"/>
                </a:solidFill>
                <a:latin typeface="Consolas"/>
              </a:rPr>
              <a:t>dTSMC(台積電)  0x1CB2Ea6f8eB47c24387B015C75D9d1dad800dc53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LIQUIDITY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流動性提升效果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傳統台股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E6B0"/>
                          </a:solidFill>
                          <a:latin typeface="Microsoft JhengHei"/>
                        </a:rPr>
                        <a:t>FormosaX 代幣化</a:t>
                      </a:r>
                    </a:p>
                  </a:txBody>
                  <a:tcPr anchor="ctr">
                    <a:solidFill>
                      <a:srgbClr val="12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交易時間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~4.5 小時/日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24 小時 × 7 天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最小單位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1 股(零股慢)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0.01 股(完全碎片化)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結算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T+2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即時(鏈上原子結算)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跨境參與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高門檻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錢包即可,無國界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可組合性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質押/借貸/認購/DeFi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擔保驗證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7EEF7"/>
                          </a:solidFill>
                          <a:latin typeface="Microsoft JhengHei"/>
                        </a:rPr>
                        <a:t>不可即時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9E6B0"/>
                          </a:solidFill>
                          <a:latin typeface="Microsoft JhengHei"/>
                        </a:rPr>
                        <a:t>鏈上 1:1 Proof of Reserve</a:t>
                      </a:r>
                    </a:p>
                  </a:txBody>
                  <a:tcPr anchor="ctr">
                    <a:solidFill>
                      <a:srgbClr val="0E14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4864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7EEF7"/>
                </a:solidFill>
                <a:latin typeface="Microsoft JhengHei"/>
              </a:rPr>
              <a:t>▍ 交易可及時間 +400%、單位門檻 ↓99%、新增抵押釋放流動性管道 → 有效流動性顯著提升。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SECONDARY MARKET · UNISWAP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二級市場:Uniswap 流動性池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站內 AMM 交換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前端直接打 Uniswap v3 SwapRouter,吃同一池流動性;QuoterV2 報價、exactInputSingle 交換。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外部 Uniswap 可換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同一池在 app.uniswap.org(Sepolia)用 token 位址匯入即可交易。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239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F5B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一/二級市場套利收斂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預言機價(一級)錨定公允價、AMM(二級)做 24/7 價格發現,偏離由套利者拉回。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9E6B0"/>
                </a:solidFill>
                <a:latin typeface="Consolas"/>
              </a:rPr>
              <a:t>dTSMC/TWD v3 池(0.3%)  0xe69aF036F8290Ed0371f79dE8E1060211e9f5353  ·  池價 = 預言機價(已驗證)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7EEF7"/>
                </a:solidFill>
                <a:latin typeface="Microsoft JhengHei"/>
              </a:rPr>
              <a:t>▍ 把「流動性提升」做成真的可交易二級市場 —— 不只是 mint/redeem,而是 24/7 AMM 自由買賣 + 真實價格發現。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19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3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09DAE"/>
                </a:solidFill>
                <a:latin typeface="Microsoft JhengHei"/>
              </a:rPr>
              <a:t>FormosaX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9E6B0"/>
                </a:solidFill>
                <a:latin typeface="Consolas"/>
              </a:rPr>
              <a:t>ROADMAP ·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7EEF7"/>
                </a:solidFill>
                <a:latin typeface="Microsoft JhengHei"/>
              </a:rPr>
              <a:t>路線圖與結語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19E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Phase 1 · 已完成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台股代幣化+預言機+穩定幣+借貸+IPO,部署 Sepolia、Etherscan 驗證、上線 Vercel。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26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9E6B0"/>
                </a:solidFill>
                <a:latin typeface="Microsoft JhengHei"/>
              </a:rPr>
              <a:t>Phase 2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AI 估值/風險上鏈(Chainlink Functions)、動態 LTV、遷 L2 降 gas。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239" y="2377440"/>
            <a:ext cx="3322320" cy="1645920"/>
          </a:xfrm>
          <a:prstGeom prst="rect">
            <a:avLst/>
          </a:prstGeom>
          <a:solidFill>
            <a:srgbClr val="0E141F"/>
          </a:solidFill>
          <a:ln w="12700">
            <a:solidFill>
              <a:srgbClr val="F5B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Phase 3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09DAE"/>
                </a:solidFill>
                <a:latin typeface="Microsoft JhengHei"/>
              </a:rPr>
              <a:t>實股託管+KYC/合規、上 DEX 做市、擴展不動產/債權(ERC-721)。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09DAE"/>
                </a:solidFill>
                <a:latin typeface="Microsoft JhengHei"/>
              </a:rPr>
              <a:t>FormosaX 以台股示範「透明估值(Oracle+AI)× 鏈上擔保 × 可組合 DeFi × 可程式化合規」的完整 RWA 堆疊,且已真實部署、可驗證。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9E6B0"/>
                </a:solidFill>
                <a:latin typeface="Microsoft JhengHei"/>
              </a:rPr>
              <a:t>Thanks for watching —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09DAE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